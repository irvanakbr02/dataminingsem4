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4" r:id="rId8"/>
    <p:sldId id="263" r:id="rId9"/>
    <p:sldId id="269" r:id="rId10"/>
    <p:sldId id="265" r:id="rId11"/>
    <p:sldId id="266" r:id="rId12"/>
    <p:sldId id="267" r:id="rId13"/>
    <p:sldId id="268" r:id="rId14"/>
    <p:sldId id="25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806000"/>
            <a:ext cx="60873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998100" y="806000"/>
            <a:ext cx="3597600" cy="52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cxnSp>
        <p:nvCxnSpPr>
          <p:cNvPr id="13" name="Google Shape;13;p2"/>
          <p:cNvCxnSpPr/>
          <p:nvPr/>
        </p:nvCxnSpPr>
        <p:spPr>
          <a:xfrm>
            <a:off x="1524459" y="2397200"/>
            <a:ext cx="0" cy="20636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806000"/>
            <a:ext cx="60873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" name="Google Shape;16;p3"/>
          <p:cNvCxnSpPr/>
          <p:nvPr/>
        </p:nvCxnSpPr>
        <p:spPr>
          <a:xfrm>
            <a:off x="1524459" y="2397200"/>
            <a:ext cx="0" cy="20636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1991250" y="2111133"/>
            <a:ext cx="36156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1991250" y="3786735"/>
            <a:ext cx="3615600" cy="10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Clr>
                <a:srgbClr val="6B6E81"/>
              </a:buClr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800"/>
              </a:spcAft>
              <a:buClr>
                <a:srgbClr val="6B6E81"/>
              </a:buClr>
              <a:buSzPts val="1800"/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806000"/>
            <a:ext cx="60873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1524459" y="2397200"/>
            <a:ext cx="0" cy="20636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1991250" y="806000"/>
            <a:ext cx="3615600" cy="52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◎"/>
              <a:defRPr sz="2400"/>
            </a:lvl1pPr>
            <a:lvl2pPr marL="914400" lvl="1" indent="-381000" rtl="0">
              <a:spcBef>
                <a:spcPts val="800"/>
              </a:spcBef>
              <a:spcAft>
                <a:spcPts val="0"/>
              </a:spcAft>
              <a:buSzPts val="2400"/>
              <a:buChar char="◎"/>
              <a:defRPr sz="2400"/>
            </a:lvl2pPr>
            <a:lvl3pPr marL="1371600" lvl="2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Google Shape;23;p4"/>
          <p:cNvSpPr txBox="1"/>
          <p:nvPr/>
        </p:nvSpPr>
        <p:spPr>
          <a:xfrm>
            <a:off x="0" y="2790000"/>
            <a:ext cx="15243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rgbClr val="D9DCE6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“</a:t>
            </a:r>
            <a:endParaRPr sz="9600" b="1">
              <a:solidFill>
                <a:srgbClr val="D9DCE6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806000"/>
            <a:ext cx="79281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1946716" y="1368000"/>
            <a:ext cx="0" cy="41220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91300" y="1368000"/>
            <a:ext cx="13419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2191200" y="1368000"/>
            <a:ext cx="53457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◎"/>
              <a:defRPr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◎"/>
              <a:defRPr/>
            </a:lvl2pPr>
            <a:lvl3pPr marL="1371600" lvl="2" indent="-355600">
              <a:spcBef>
                <a:spcPts val="8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>
              <a:spcBef>
                <a:spcPts val="8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2/3">
  <p:cSld name="Title + 1 column 2/3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0" y="806000"/>
            <a:ext cx="60873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" name="Google Shape;33;p6"/>
          <p:cNvCxnSpPr/>
          <p:nvPr/>
        </p:nvCxnSpPr>
        <p:spPr>
          <a:xfrm>
            <a:off x="1946716" y="1368000"/>
            <a:ext cx="0" cy="41220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291300" y="1368000"/>
            <a:ext cx="13419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2191200" y="1368000"/>
            <a:ext cx="35994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◎"/>
              <a:defRPr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◎"/>
              <a:defRPr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806000"/>
            <a:ext cx="79281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7"/>
          <p:cNvCxnSpPr/>
          <p:nvPr/>
        </p:nvCxnSpPr>
        <p:spPr>
          <a:xfrm>
            <a:off x="1946716" y="1368000"/>
            <a:ext cx="0" cy="41220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291300" y="1368000"/>
            <a:ext cx="13419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2183375" y="1368000"/>
            <a:ext cx="24672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SzPts val="1800"/>
              <a:buChar char="◎"/>
              <a:defRPr sz="1800"/>
            </a:lvl2pPr>
            <a:lvl3pPr marL="1371600" lvl="2" indent="-34290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5061144" y="1368000"/>
            <a:ext cx="24672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>
              <a:spcBef>
                <a:spcPts val="800"/>
              </a:spcBef>
              <a:spcAft>
                <a:spcPts val="0"/>
              </a:spcAft>
              <a:buSzPts val="1800"/>
              <a:buChar char="◎"/>
              <a:defRPr sz="1800"/>
            </a:lvl2pPr>
            <a:lvl3pPr marL="1371600" lvl="2" indent="-34290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>
            <a:off x="0" y="806000"/>
            <a:ext cx="79281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6" name="Google Shape;46;p8"/>
          <p:cNvCxnSpPr/>
          <p:nvPr/>
        </p:nvCxnSpPr>
        <p:spPr>
          <a:xfrm>
            <a:off x="1946716" y="1368000"/>
            <a:ext cx="0" cy="41220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291300" y="1368000"/>
            <a:ext cx="13419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2183375" y="1368000"/>
            <a:ext cx="16635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◎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◎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4028447" y="1368000"/>
            <a:ext cx="16635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◎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◎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3"/>
          </p:nvPr>
        </p:nvSpPr>
        <p:spPr>
          <a:xfrm>
            <a:off x="5873519" y="1368000"/>
            <a:ext cx="16635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◎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◎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>
            <a:off x="0" y="806000"/>
            <a:ext cx="79281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" name="Google Shape;54;p9"/>
          <p:cNvCxnSpPr/>
          <p:nvPr/>
        </p:nvCxnSpPr>
        <p:spPr>
          <a:xfrm>
            <a:off x="1946716" y="1368000"/>
            <a:ext cx="0" cy="41220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291300" y="1368000"/>
            <a:ext cx="1341900" cy="41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/>
        </p:nvSpPr>
        <p:spPr>
          <a:xfrm>
            <a:off x="0" y="806000"/>
            <a:ext cx="7928100" cy="524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dist="9525" dir="5400000" algn="bl" rotWithShape="0">
              <a:srgbClr val="010E1B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" name="Google Shape;59;p10"/>
          <p:cNvCxnSpPr/>
          <p:nvPr/>
        </p:nvCxnSpPr>
        <p:spPr>
          <a:xfrm>
            <a:off x="1946716" y="1368000"/>
            <a:ext cx="0" cy="4122000"/>
          </a:xfrm>
          <a:prstGeom prst="straightConnector1">
            <a:avLst/>
          </a:prstGeom>
          <a:noFill/>
          <a:ln w="9525" cap="flat" cmpd="sng">
            <a:solidFill>
              <a:srgbClr val="D9D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457200" y="1367933"/>
            <a:ext cx="1237200" cy="412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800"/>
              </a:spcAft>
              <a:buSzPts val="1400"/>
              <a:buNone/>
              <a:defRPr sz="1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/>
          <a:lstStyle/>
          <a:p>
            <a:fld id="{90F0F5D6-48F6-409A-9C1A-05AACB9C72A5}" type="datetimeFigureOut">
              <a:rPr lang="en-US" smtClean="0"/>
              <a:t>5/31/2021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/>
          <a:lstStyle/>
          <a:p>
            <a:fld id="{90F0F5D6-48F6-409A-9C1A-05AACB9C72A5}" type="datetimeFigureOut">
              <a:rPr lang="en-US" smtClean="0"/>
              <a:t>5/31/2021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E7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0" y="15067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91300" y="1368000"/>
            <a:ext cx="1341900" cy="41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D3E7C"/>
              </a:buClr>
              <a:buSzPts val="1600"/>
              <a:buFont typeface="IBM Plex Sans Condensed"/>
              <a:buNone/>
              <a:defRPr sz="1600" b="1">
                <a:solidFill>
                  <a:srgbClr val="1D3E7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2191200" y="1368000"/>
            <a:ext cx="5345700" cy="41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DCE6"/>
              </a:buClr>
              <a:buSzPts val="1400"/>
              <a:buFont typeface="Frank Ruhl Libre Light"/>
              <a:buChar char="◎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1pPr>
            <a:lvl2pPr marL="914400" lvl="1" indent="-31750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9DCE6"/>
              </a:buClr>
              <a:buSzPts val="1400"/>
              <a:buFont typeface="Frank Ruhl Libre Light"/>
              <a:buChar char="◎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2pPr>
            <a:lvl3pPr marL="1371600" lvl="2" indent="-35560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9DCE6"/>
              </a:buClr>
              <a:buSzPts val="2000"/>
              <a:buFont typeface="Frank Ruhl Libre Light"/>
              <a:buChar char="■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3pPr>
            <a:lvl4pPr marL="1828800" lvl="3" indent="-35560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9DCE6"/>
              </a:buClr>
              <a:buSzPts val="2000"/>
              <a:buFont typeface="Frank Ruhl Libre Light"/>
              <a:buChar char="●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4pPr>
            <a:lvl5pPr marL="2286000" lvl="4" indent="-35560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9DCE6"/>
              </a:buClr>
              <a:buSzPts val="2000"/>
              <a:buFont typeface="Frank Ruhl Libre Light"/>
              <a:buChar char="○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5pPr>
            <a:lvl6pPr marL="2743200" lvl="5" indent="-35560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9DCE6"/>
              </a:buClr>
              <a:buSzPts val="2000"/>
              <a:buFont typeface="Frank Ruhl Libre Light"/>
              <a:buChar char="■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6pPr>
            <a:lvl7pPr marL="3200400" lvl="6" indent="-35560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9DCE6"/>
              </a:buClr>
              <a:buSzPts val="2000"/>
              <a:buFont typeface="Frank Ruhl Libre Light"/>
              <a:buChar char="●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7pPr>
            <a:lvl8pPr marL="3657600" lvl="7" indent="-35560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D9DCE6"/>
              </a:buClr>
              <a:buSzPts val="2000"/>
              <a:buFont typeface="Frank Ruhl Libre Light"/>
              <a:buChar char="○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8pPr>
            <a:lvl9pPr marL="4114800" lvl="8" indent="-355600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Clr>
                <a:srgbClr val="D9DCE6"/>
              </a:buClr>
              <a:buSzPts val="2000"/>
              <a:buFont typeface="Frank Ruhl Libre Light"/>
              <a:buChar char="■"/>
              <a:defRPr sz="2000">
                <a:solidFill>
                  <a:srgbClr val="6B6E81"/>
                </a:solidFill>
                <a:latin typeface="Frank Ruhl Libre Light"/>
                <a:ea typeface="Frank Ruhl Libre Light"/>
                <a:cs typeface="Frank Ruhl Libre Light"/>
                <a:sym typeface="Frank Ruhl Libre Light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53425" y="-80"/>
            <a:ext cx="5487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lvl="2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lvl="3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lvl="4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lvl="5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lvl="6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lvl="7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lvl="8" algn="r">
              <a:buNone/>
              <a:defRPr sz="1100">
                <a:solidFill>
                  <a:schemeClr val="lt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fld id="{1E9AB1A8-46C7-4168-A783-45D32E6925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600" y="588640"/>
            <a:ext cx="7330008" cy="4571999"/>
          </a:xfrm>
        </p:spPr>
        <p:txBody>
          <a:bodyPr/>
          <a:lstStyle/>
          <a:p>
            <a:r>
              <a:rPr lang="en-ID" sz="7200" dirty="0" smtClean="0">
                <a:solidFill>
                  <a:schemeClr val="bg1"/>
                </a:solidFill>
              </a:rPr>
              <a:t>METODE DECISION TREE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5013176"/>
            <a:ext cx="6858000" cy="914400"/>
          </a:xfrm>
        </p:spPr>
        <p:txBody>
          <a:bodyPr>
            <a:normAutofit/>
          </a:bodyPr>
          <a:lstStyle/>
          <a:p>
            <a:pPr algn="r"/>
            <a:r>
              <a:rPr lang="en-ID" b="1" dirty="0" err="1" smtClean="0">
                <a:solidFill>
                  <a:schemeClr val="bg1"/>
                </a:solidFill>
              </a:rPr>
              <a:t>Irvan</a:t>
            </a:r>
            <a:r>
              <a:rPr lang="en-ID" b="1" dirty="0" smtClean="0">
                <a:solidFill>
                  <a:schemeClr val="bg1"/>
                </a:solidFill>
              </a:rPr>
              <a:t> Akbar </a:t>
            </a:r>
            <a:r>
              <a:rPr lang="en-ID" b="1" dirty="0" err="1" smtClean="0">
                <a:solidFill>
                  <a:schemeClr val="bg1"/>
                </a:solidFill>
              </a:rPr>
              <a:t>Febriansyah</a:t>
            </a:r>
            <a:r>
              <a:rPr lang="en-ID" b="1" dirty="0" smtClean="0">
                <a:solidFill>
                  <a:schemeClr val="bg1"/>
                </a:solidFill>
              </a:rPr>
              <a:t> - 19090099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79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32" y="1097512"/>
            <a:ext cx="3344596" cy="476824"/>
          </a:xfrm>
        </p:spPr>
        <p:txBody>
          <a:bodyPr/>
          <a:lstStyle/>
          <a:p>
            <a:pPr algn="l"/>
            <a:r>
              <a:rPr lang="en-ID" sz="2800" dirty="0" smtClean="0">
                <a:solidFill>
                  <a:schemeClr val="bg1"/>
                </a:solidFill>
              </a:rPr>
              <a:t>Decision Tree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1772816"/>
            <a:ext cx="6205260" cy="412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Decision tree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algoritma</a:t>
            </a:r>
            <a:r>
              <a:rPr lang="en-US" sz="2000" dirty="0">
                <a:solidFill>
                  <a:schemeClr val="bg1"/>
                </a:solidFill>
              </a:rPr>
              <a:t> C.45 </a:t>
            </a:r>
            <a:r>
              <a:rPr lang="en-US" sz="2000" dirty="0" err="1">
                <a:solidFill>
                  <a:schemeClr val="bg1"/>
                </a:solidFill>
              </a:rPr>
              <a:t>merupakan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salah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satu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metode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klasifikasi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menggunakan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representasi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struktur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pohon</a:t>
            </a:r>
            <a:r>
              <a:rPr lang="en-US" sz="2000" dirty="0">
                <a:solidFill>
                  <a:schemeClr val="bg1"/>
                </a:solidFill>
              </a:rPr>
              <a:t> (tree) </a:t>
            </a:r>
            <a:r>
              <a:rPr lang="en-US" sz="2000" dirty="0" err="1">
                <a:solidFill>
                  <a:schemeClr val="bg1"/>
                </a:solidFill>
              </a:rPr>
              <a:t>dimana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setiap</a:t>
            </a:r>
            <a:r>
              <a:rPr lang="en-US" sz="2000" dirty="0">
                <a:solidFill>
                  <a:schemeClr val="bg1"/>
                </a:solidFill>
              </a:rPr>
              <a:t> node </a:t>
            </a:r>
            <a:r>
              <a:rPr lang="en-US" sz="2000" dirty="0" err="1">
                <a:solidFill>
                  <a:schemeClr val="bg1"/>
                </a:solidFill>
              </a:rPr>
              <a:t>merepresentasikan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atribut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cabangnya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merepresentasikan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nilai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atribut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daun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merepresentasikan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kelas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116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smtClean="0"/>
              <a:t>Decision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3688" y="1196752"/>
            <a:ext cx="5345700" cy="4122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bg1"/>
                </a:solidFill>
              </a:rPr>
              <a:t>Decision tree </a:t>
            </a:r>
            <a:r>
              <a:rPr lang="en-US" sz="2000" dirty="0" err="1">
                <a:solidFill>
                  <a:schemeClr val="bg1"/>
                </a:solidFill>
              </a:rPr>
              <a:t>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memperlihatkan</a:t>
            </a:r>
            <a:r>
              <a:rPr lang="en-US" sz="2000" dirty="0">
                <a:solidFill>
                  <a:schemeClr val="bg1"/>
                </a:solidFill>
              </a:rPr>
              <a:t> factor-</a:t>
            </a:r>
            <a:r>
              <a:rPr lang="en-US" sz="2000" dirty="0" err="1">
                <a:solidFill>
                  <a:schemeClr val="bg1"/>
                </a:solidFill>
              </a:rPr>
              <a:t>faktor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kemungkinan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probabilitas</a:t>
            </a:r>
            <a:r>
              <a:rPr lang="en-US" sz="2000" dirty="0">
                <a:solidFill>
                  <a:schemeClr val="bg1"/>
                </a:solidFill>
              </a:rPr>
              <a:t>) yang </a:t>
            </a:r>
            <a:r>
              <a:rPr lang="en-US" sz="2000" dirty="0" err="1">
                <a:solidFill>
                  <a:schemeClr val="bg1"/>
                </a:solidFill>
              </a:rPr>
              <a:t>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mempengaruhi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alternatif</a:t>
            </a:r>
            <a:r>
              <a:rPr lang="en-US" sz="2000" dirty="0">
                <a:solidFill>
                  <a:schemeClr val="bg1"/>
                </a:solidFill>
              </a:rPr>
              <a:t> –</a:t>
            </a:r>
            <a:r>
              <a:rPr lang="en-US" sz="2000" dirty="0" err="1">
                <a:solidFill>
                  <a:schemeClr val="bg1"/>
                </a:solidFill>
              </a:rPr>
              <a:t>alternatif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dalam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penentuan</a:t>
            </a:r>
            <a:r>
              <a:rPr lang="en-US" sz="2000" dirty="0">
                <a:solidFill>
                  <a:schemeClr val="bg1"/>
                </a:solidFill>
              </a:rPr>
              <a:t> guru </a:t>
            </a:r>
            <a:r>
              <a:rPr lang="en-US" sz="2000" dirty="0" err="1">
                <a:solidFill>
                  <a:schemeClr val="bg1"/>
                </a:solidFill>
              </a:rPr>
              <a:t>berprestasi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disertai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prediksi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hasil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akhir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penentuan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menggunakan</a:t>
            </a:r>
            <a:r>
              <a:rPr lang="en-US" sz="2000" dirty="0">
                <a:solidFill>
                  <a:schemeClr val="bg1"/>
                </a:solidFill>
              </a:rPr>
              <a:t> Decision </a:t>
            </a:r>
            <a:r>
              <a:rPr lang="en-US" sz="2000" dirty="0" smtClean="0">
                <a:solidFill>
                  <a:schemeClr val="bg1"/>
                </a:solidFill>
              </a:rPr>
              <a:t>Tree</a:t>
            </a:r>
          </a:p>
          <a:p>
            <a:pPr marL="0" indent="0" algn="just">
              <a:buNone/>
            </a:pPr>
            <a:endParaRPr lang="en-US" sz="2000" dirty="0" smtClean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bg1"/>
                </a:solidFill>
              </a:rPr>
              <a:t>Data </a:t>
            </a:r>
            <a:r>
              <a:rPr lang="en-US" sz="2000" dirty="0" err="1">
                <a:solidFill>
                  <a:schemeClr val="bg1"/>
                </a:solidFill>
              </a:rPr>
              <a:t>dalam</a:t>
            </a:r>
            <a:r>
              <a:rPr lang="en-US" sz="2000" dirty="0">
                <a:solidFill>
                  <a:schemeClr val="bg1"/>
                </a:solidFill>
              </a:rPr>
              <a:t> Decision Tree </a:t>
            </a:r>
            <a:r>
              <a:rPr lang="en-US" sz="2000" dirty="0" err="1">
                <a:solidFill>
                  <a:schemeClr val="bg1"/>
                </a:solidFill>
              </a:rPr>
              <a:t>dinyatakan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dalam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bentuk</a:t>
            </a:r>
            <a:r>
              <a:rPr lang="en-US" sz="2000" dirty="0">
                <a:solidFill>
                  <a:schemeClr val="bg1"/>
                </a:solidFill>
              </a:rPr>
              <a:t> table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atribut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record. </a:t>
            </a:r>
            <a:r>
              <a:rPr lang="en-US" sz="2000" dirty="0" err="1">
                <a:solidFill>
                  <a:schemeClr val="bg1"/>
                </a:solidFill>
              </a:rPr>
              <a:t>Atribut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menyatakan</a:t>
            </a:r>
            <a:r>
              <a:rPr lang="en-US" sz="2000" dirty="0">
                <a:solidFill>
                  <a:schemeClr val="bg1"/>
                </a:solidFill>
              </a:rPr>
              <a:t> parameter yang </a:t>
            </a:r>
            <a:r>
              <a:rPr lang="en-US" sz="2000" dirty="0" err="1">
                <a:solidFill>
                  <a:schemeClr val="bg1"/>
                </a:solidFill>
              </a:rPr>
              <a:t>dibuat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sebagai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kriteria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dalam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pembentukan</a:t>
            </a:r>
            <a:r>
              <a:rPr lang="en-US" sz="2000" dirty="0">
                <a:solidFill>
                  <a:schemeClr val="bg1"/>
                </a:solidFill>
              </a:rPr>
              <a:t> tree.</a:t>
            </a:r>
          </a:p>
          <a:p>
            <a:pPr marL="0" indent="0" algn="just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220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7881100" cy="4122000"/>
          </a:xfrm>
        </p:spPr>
        <p:txBody>
          <a:bodyPr>
            <a:no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/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b="1" dirty="0">
                <a:solidFill>
                  <a:schemeClr val="bg1"/>
                </a:solidFill>
              </a:rPr>
              <a:t>ANALISA DAN PERANCANGAN PENENTUAN GURU BERPRESTASI </a:t>
            </a:r>
            <a:r>
              <a:rPr lang="en-US" sz="1800" dirty="0">
                <a:solidFill>
                  <a:schemeClr val="bg1"/>
                </a:solidFill>
              </a:rPr>
              <a:t/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MENGGUNAKAN METODE </a:t>
            </a:r>
            <a:r>
              <a:rPr lang="en-US" sz="1800" b="1" i="1" dirty="0">
                <a:solidFill>
                  <a:schemeClr val="bg1"/>
                </a:solidFill>
              </a:rPr>
              <a:t>DECISION TREE 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656" y="2204864"/>
            <a:ext cx="6196405" cy="36038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 err="1">
                <a:solidFill>
                  <a:schemeClr val="bg1"/>
                </a:solidFill>
              </a:rPr>
              <a:t>Analisis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perancangan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penentuan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prestasi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kerja</a:t>
            </a:r>
            <a:r>
              <a:rPr lang="en-US" sz="1800" dirty="0">
                <a:solidFill>
                  <a:schemeClr val="bg1"/>
                </a:solidFill>
              </a:rPr>
              <a:t> guru </a:t>
            </a:r>
            <a:r>
              <a:rPr lang="en-US" sz="1800" dirty="0" err="1">
                <a:solidFill>
                  <a:schemeClr val="bg1"/>
                </a:solidFill>
              </a:rPr>
              <a:t>dengan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menggunakan</a:t>
            </a:r>
            <a:r>
              <a:rPr lang="en-US" sz="1800" dirty="0">
                <a:solidFill>
                  <a:schemeClr val="bg1"/>
                </a:solidFill>
              </a:rPr>
              <a:t> Decision Tree </a:t>
            </a:r>
            <a:r>
              <a:rPr lang="en-US" sz="1800" dirty="0" err="1">
                <a:solidFill>
                  <a:schemeClr val="bg1"/>
                </a:solidFill>
              </a:rPr>
              <a:t>membantu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dalam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menentukan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penilaian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kinerja</a:t>
            </a:r>
            <a:r>
              <a:rPr lang="en-US" sz="1800" dirty="0">
                <a:solidFill>
                  <a:schemeClr val="bg1"/>
                </a:solidFill>
              </a:rPr>
              <a:t> guru yang </a:t>
            </a:r>
            <a:r>
              <a:rPr lang="en-US" sz="1800" dirty="0" err="1">
                <a:solidFill>
                  <a:schemeClr val="bg1"/>
                </a:solidFill>
              </a:rPr>
              <a:t>diharapkan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dapat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memberikan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alternatif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terbaik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dalam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menentukan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bobot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setiap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kriteria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  <a:endParaRPr lang="en-US" sz="1800" dirty="0" smtClean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en-US" sz="1800" dirty="0" smtClean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en-US" sz="1800" dirty="0" err="1" smtClean="0">
                <a:solidFill>
                  <a:schemeClr val="bg1"/>
                </a:solidFill>
              </a:rPr>
              <a:t>Kriteria</a:t>
            </a:r>
            <a:r>
              <a:rPr lang="en-US" sz="1800" dirty="0" smtClean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yang </a:t>
            </a:r>
            <a:r>
              <a:rPr lang="en-US" sz="1800" dirty="0" err="1">
                <a:solidFill>
                  <a:schemeClr val="bg1"/>
                </a:solidFill>
              </a:rPr>
              <a:t>dipertimbangkan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dalam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penentuan</a:t>
            </a:r>
            <a:r>
              <a:rPr lang="en-US" sz="1800" dirty="0">
                <a:solidFill>
                  <a:schemeClr val="bg1"/>
                </a:solidFill>
              </a:rPr>
              <a:t> Guru </a:t>
            </a:r>
            <a:r>
              <a:rPr lang="en-US" sz="1800" dirty="0" err="1">
                <a:solidFill>
                  <a:schemeClr val="bg1"/>
                </a:solidFill>
              </a:rPr>
              <a:t>meliputi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loyalitas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ketaatan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tanggung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jawab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kerjasama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prestasi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kerja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dan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penilaian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pembelajaran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</a:p>
          <a:p>
            <a:pPr algn="just"/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307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 err="1">
                <a:solidFill>
                  <a:schemeClr val="bg1"/>
                </a:solidFill>
              </a:rPr>
              <a:t>Analisis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perancangan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tekad</a:t>
            </a:r>
            <a:r>
              <a:rPr lang="en-US" sz="2000" dirty="0">
                <a:solidFill>
                  <a:schemeClr val="bg1"/>
                </a:solidFill>
              </a:rPr>
              <a:t> Guru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menghasilkan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alternatif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keputusan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bisa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dijadikan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dalam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membuat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keputusan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  <a:endParaRPr lang="en-US" sz="2000" dirty="0" smtClean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en-US" sz="2000" dirty="0" err="1" smtClean="0">
                <a:solidFill>
                  <a:schemeClr val="bg1"/>
                </a:solidFill>
              </a:rPr>
              <a:t>Metode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Decision Tree yang </a:t>
            </a:r>
            <a:r>
              <a:rPr lang="en-US" sz="2000" dirty="0" err="1">
                <a:solidFill>
                  <a:schemeClr val="bg1"/>
                </a:solidFill>
              </a:rPr>
              <a:t>dipilih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metode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dapat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menentukan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nilai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bobot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setiap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atribut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diikuti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metode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rangking</a:t>
            </a:r>
            <a:r>
              <a:rPr lang="en-US" sz="2000" dirty="0">
                <a:solidFill>
                  <a:schemeClr val="bg1"/>
                </a:solidFill>
              </a:rPr>
              <a:t> proses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memilih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alternatif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sejumlah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alternatif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ditentukan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sehingga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mendapatkan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hasil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akurat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334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>
                <a:solidFill>
                  <a:schemeClr val="bg1"/>
                </a:solidFill>
              </a:rPr>
              <a:t>Metode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pengembangan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digunakan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yaitu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metode</a:t>
            </a:r>
            <a:r>
              <a:rPr lang="en-US" dirty="0">
                <a:solidFill>
                  <a:schemeClr val="bg1"/>
                </a:solidFill>
              </a:rPr>
              <a:t> waterfall. </a:t>
            </a:r>
            <a:r>
              <a:rPr lang="en-US" dirty="0" err="1">
                <a:solidFill>
                  <a:schemeClr val="bg1"/>
                </a:solidFill>
              </a:rPr>
              <a:t>Metode</a:t>
            </a:r>
            <a:r>
              <a:rPr lang="en-US" dirty="0">
                <a:solidFill>
                  <a:schemeClr val="bg1"/>
                </a:solidFill>
              </a:rPr>
              <a:t> Waterfall </a:t>
            </a:r>
            <a:r>
              <a:rPr lang="en-US" dirty="0" err="1">
                <a:solidFill>
                  <a:schemeClr val="bg1"/>
                </a:solidFill>
              </a:rPr>
              <a:t>adalah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metode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menyarankan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sebuah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pendekatan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sistematis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sekuensial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melalui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tahapan-tahapan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membangun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sebuah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perangkat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lunak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684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smtClean="0"/>
              <a:t>Decision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i="1" dirty="0">
                <a:solidFill>
                  <a:schemeClr val="bg1"/>
                </a:solidFill>
              </a:rPr>
              <a:t>Decision Tree </a:t>
            </a:r>
            <a:r>
              <a:rPr lang="en-US" sz="2000" dirty="0" err="1">
                <a:solidFill>
                  <a:schemeClr val="bg1"/>
                </a:solidFill>
              </a:rPr>
              <a:t>adalah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sebuah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struktur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pohon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dimana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setiap</a:t>
            </a:r>
            <a:r>
              <a:rPr lang="en-US" sz="2000" dirty="0">
                <a:solidFill>
                  <a:schemeClr val="bg1"/>
                </a:solidFill>
              </a:rPr>
              <a:t> node </a:t>
            </a:r>
            <a:r>
              <a:rPr lang="en-US" sz="2000" dirty="0" err="1">
                <a:solidFill>
                  <a:schemeClr val="bg1"/>
                </a:solidFill>
              </a:rPr>
              <a:t>pohon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merepresentasikan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atribut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telah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diuji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setiap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cabang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merupakan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suatu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pembagian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hasil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uji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node </a:t>
            </a:r>
            <a:r>
              <a:rPr lang="en-US" sz="2000" dirty="0" err="1">
                <a:solidFill>
                  <a:schemeClr val="bg1"/>
                </a:solidFill>
              </a:rPr>
              <a:t>daun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i="1" dirty="0">
                <a:solidFill>
                  <a:schemeClr val="bg1"/>
                </a:solidFill>
              </a:rPr>
              <a:t>leaf</a:t>
            </a:r>
            <a:r>
              <a:rPr lang="en-US" sz="2000" dirty="0">
                <a:solidFill>
                  <a:schemeClr val="bg1"/>
                </a:solidFill>
              </a:rPr>
              <a:t>) </a:t>
            </a:r>
            <a:r>
              <a:rPr lang="en-US" sz="2000" dirty="0" err="1">
                <a:solidFill>
                  <a:schemeClr val="bg1"/>
                </a:solidFill>
              </a:rPr>
              <a:t>merepresentasikan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kelompok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kelas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tertentu</a:t>
            </a:r>
            <a:r>
              <a:rPr lang="en-US" sz="2000" dirty="0">
                <a:solidFill>
                  <a:schemeClr val="bg1"/>
                </a:solidFill>
              </a:rPr>
              <a:t>. Level node </a:t>
            </a:r>
            <a:r>
              <a:rPr lang="en-US" sz="2000" dirty="0" err="1">
                <a:solidFill>
                  <a:schemeClr val="bg1"/>
                </a:solidFill>
              </a:rPr>
              <a:t>teratas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sebuah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i="1" dirty="0">
                <a:solidFill>
                  <a:schemeClr val="bg1"/>
                </a:solidFill>
              </a:rPr>
              <a:t>Decision Tree </a:t>
            </a:r>
            <a:r>
              <a:rPr lang="en-US" sz="2000" dirty="0" err="1">
                <a:solidFill>
                  <a:schemeClr val="bg1"/>
                </a:solidFill>
              </a:rPr>
              <a:t>adalah</a:t>
            </a:r>
            <a:r>
              <a:rPr lang="en-US" sz="2000" dirty="0">
                <a:solidFill>
                  <a:schemeClr val="bg1"/>
                </a:solidFill>
              </a:rPr>
              <a:t> node </a:t>
            </a:r>
            <a:r>
              <a:rPr lang="en-US" sz="2000" dirty="0" err="1">
                <a:solidFill>
                  <a:schemeClr val="bg1"/>
                </a:solidFill>
              </a:rPr>
              <a:t>akar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i="1" dirty="0">
                <a:solidFill>
                  <a:schemeClr val="bg1"/>
                </a:solidFill>
              </a:rPr>
              <a:t>root</a:t>
            </a:r>
            <a:r>
              <a:rPr lang="en-US" sz="2000" dirty="0">
                <a:solidFill>
                  <a:schemeClr val="bg1"/>
                </a:solidFill>
              </a:rPr>
              <a:t>) yang </a:t>
            </a:r>
            <a:r>
              <a:rPr lang="en-US" sz="2000" dirty="0" err="1">
                <a:solidFill>
                  <a:schemeClr val="bg1"/>
                </a:solidFill>
              </a:rPr>
              <a:t>biasanya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berupa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atribut</a:t>
            </a:r>
            <a:r>
              <a:rPr lang="en-US" sz="2000" dirty="0">
                <a:solidFill>
                  <a:schemeClr val="bg1"/>
                </a:solidFill>
              </a:rPr>
              <a:t> yang paling </a:t>
            </a:r>
            <a:r>
              <a:rPr lang="en-US" sz="2000" dirty="0" err="1">
                <a:solidFill>
                  <a:schemeClr val="bg1"/>
                </a:solidFill>
              </a:rPr>
              <a:t>memiliki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pengaruh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terbesar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pada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suatu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kelas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tertentu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60115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i="1" dirty="0" smtClean="0">
                <a:solidFill>
                  <a:schemeClr val="bg1"/>
                </a:solidFill>
              </a:rPr>
              <a:t>Root </a:t>
            </a:r>
            <a:r>
              <a:rPr lang="en-US" i="1" dirty="0">
                <a:solidFill>
                  <a:schemeClr val="bg1"/>
                </a:solidFill>
              </a:rPr>
              <a:t>Node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merupakan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node </a:t>
            </a:r>
            <a:r>
              <a:rPr lang="en-US" dirty="0">
                <a:solidFill>
                  <a:schemeClr val="bg1"/>
                </a:solidFill>
              </a:rPr>
              <a:t>paling </a:t>
            </a:r>
            <a:r>
              <a:rPr lang="en-US" dirty="0" err="1">
                <a:solidFill>
                  <a:schemeClr val="bg1"/>
                </a:solidFill>
              </a:rPr>
              <a:t>atas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node </a:t>
            </a:r>
            <a:r>
              <a:rPr lang="en-US" dirty="0" err="1">
                <a:solidFill>
                  <a:schemeClr val="bg1"/>
                </a:solidFill>
              </a:rPr>
              <a:t>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tidak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input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tidak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mempunyai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output </a:t>
            </a:r>
            <a:r>
              <a:rPr lang="en-US" dirty="0" err="1">
                <a:solidFill>
                  <a:schemeClr val="bg1"/>
                </a:solidFill>
              </a:rPr>
              <a:t>atau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mempunyai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output </a:t>
            </a:r>
            <a:r>
              <a:rPr lang="en-US" dirty="0" err="1">
                <a:solidFill>
                  <a:schemeClr val="bg1"/>
                </a:solidFill>
              </a:rPr>
              <a:t>lebih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satu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i="1" dirty="0" smtClean="0">
                <a:solidFill>
                  <a:schemeClr val="bg1"/>
                </a:solidFill>
              </a:rPr>
              <a:t>Internal </a:t>
            </a:r>
            <a:r>
              <a:rPr lang="en-US" i="1" dirty="0">
                <a:solidFill>
                  <a:schemeClr val="bg1"/>
                </a:solidFill>
              </a:rPr>
              <a:t>Node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merupakan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node </a:t>
            </a:r>
            <a:r>
              <a:rPr lang="en-US" dirty="0" err="1">
                <a:solidFill>
                  <a:schemeClr val="bg1"/>
                </a:solidFill>
              </a:rPr>
              <a:t>percabangan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node </a:t>
            </a:r>
            <a:r>
              <a:rPr lang="en-US" dirty="0" err="1">
                <a:solidFill>
                  <a:schemeClr val="bg1"/>
                </a:solidFill>
              </a:rPr>
              <a:t>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hanyaterdapat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satu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input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mempunyai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output </a:t>
            </a:r>
            <a:r>
              <a:rPr lang="en-US" dirty="0">
                <a:solidFill>
                  <a:schemeClr val="bg1"/>
                </a:solidFill>
              </a:rPr>
              <a:t>minimal </a:t>
            </a:r>
            <a:r>
              <a:rPr lang="en-US" dirty="0" err="1">
                <a:solidFill>
                  <a:schemeClr val="bg1"/>
                </a:solidFill>
              </a:rPr>
              <a:t>dua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i="1" dirty="0" smtClean="0">
                <a:solidFill>
                  <a:schemeClr val="bg1"/>
                </a:solidFill>
              </a:rPr>
              <a:t>Leaf </a:t>
            </a:r>
            <a:r>
              <a:rPr lang="en-US" i="1" dirty="0">
                <a:solidFill>
                  <a:schemeClr val="bg1"/>
                </a:solidFill>
              </a:rPr>
              <a:t>node </a:t>
            </a:r>
            <a:r>
              <a:rPr lang="en-US" i="1" dirty="0" err="1">
                <a:solidFill>
                  <a:schemeClr val="bg1"/>
                </a:solidFill>
              </a:rPr>
              <a:t>atau</a:t>
            </a:r>
            <a:r>
              <a:rPr lang="en-US" i="1" dirty="0">
                <a:solidFill>
                  <a:schemeClr val="bg1"/>
                </a:solidFill>
              </a:rPr>
              <a:t> terminal node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merupakan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node </a:t>
            </a:r>
            <a:r>
              <a:rPr lang="en-US" dirty="0" err="1">
                <a:solidFill>
                  <a:schemeClr val="bg1"/>
                </a:solidFill>
              </a:rPr>
              <a:t>akhir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node </a:t>
            </a:r>
            <a:r>
              <a:rPr lang="en-US" dirty="0" err="1">
                <a:solidFill>
                  <a:schemeClr val="bg1"/>
                </a:solidFill>
              </a:rPr>
              <a:t>inihanya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terdapat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satu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input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tidak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mempunyai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output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52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530" y="2060848"/>
            <a:ext cx="5048955" cy="3591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835696" y="548680"/>
            <a:ext cx="56166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chemeClr val="bg1"/>
                </a:solidFill>
              </a:rPr>
              <a:t>Tahapan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dalam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penghitungan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Pembobotan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Pemilihan</a:t>
            </a:r>
            <a:r>
              <a:rPr lang="en-US" sz="2400" b="1" dirty="0">
                <a:solidFill>
                  <a:schemeClr val="bg1"/>
                </a:solidFill>
              </a:rPr>
              <a:t> Guru </a:t>
            </a:r>
            <a:r>
              <a:rPr lang="en-US" sz="2400" b="1" dirty="0" err="1">
                <a:solidFill>
                  <a:schemeClr val="bg1"/>
                </a:solidFill>
              </a:rPr>
              <a:t>Berprestasi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527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692696"/>
            <a:ext cx="5616624" cy="576064"/>
          </a:xfrm>
        </p:spPr>
        <p:txBody>
          <a:bodyPr/>
          <a:lstStyle/>
          <a:p>
            <a:pPr algn="ctr"/>
            <a:r>
              <a:rPr lang="en-ID" sz="2400" dirty="0" err="1" smtClean="0">
                <a:solidFill>
                  <a:schemeClr val="bg1"/>
                </a:solidFill>
              </a:rPr>
              <a:t>Hasil</a:t>
            </a:r>
            <a:r>
              <a:rPr lang="en-ID" sz="2400" dirty="0" smtClean="0">
                <a:solidFill>
                  <a:schemeClr val="bg1"/>
                </a:solidFill>
              </a:rPr>
              <a:t> </a:t>
            </a:r>
            <a:r>
              <a:rPr lang="en-ID" sz="2400" dirty="0" err="1" smtClean="0">
                <a:solidFill>
                  <a:schemeClr val="bg1"/>
                </a:solidFill>
              </a:rPr>
              <a:t>dan</a:t>
            </a:r>
            <a:r>
              <a:rPr lang="en-ID" sz="2400" dirty="0" smtClean="0">
                <a:solidFill>
                  <a:schemeClr val="bg1"/>
                </a:solidFill>
              </a:rPr>
              <a:t> </a:t>
            </a:r>
            <a:r>
              <a:rPr lang="en-ID" sz="2400" dirty="0" err="1" smtClean="0">
                <a:solidFill>
                  <a:schemeClr val="bg1"/>
                </a:solidFill>
              </a:rPr>
              <a:t>pembahasan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368000"/>
            <a:ext cx="3600400" cy="4797304"/>
          </a:xfrm>
        </p:spPr>
        <p:txBody>
          <a:bodyPr/>
          <a:lstStyle/>
          <a:p>
            <a:pPr marL="139700" indent="0">
              <a:buNone/>
            </a:pPr>
            <a:r>
              <a:rPr lang="en-US" sz="1800" dirty="0" err="1">
                <a:solidFill>
                  <a:schemeClr val="bg1"/>
                </a:solidFill>
              </a:rPr>
              <a:t>Kriteria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pemilihan</a:t>
            </a:r>
            <a:r>
              <a:rPr lang="en-US" sz="1800" dirty="0">
                <a:solidFill>
                  <a:schemeClr val="bg1"/>
                </a:solidFill>
              </a:rPr>
              <a:t> Guru </a:t>
            </a:r>
            <a:r>
              <a:rPr lang="en-US" sz="1800" dirty="0" err="1">
                <a:solidFill>
                  <a:schemeClr val="bg1"/>
                </a:solidFill>
              </a:rPr>
              <a:t>Berprestasi</a:t>
            </a:r>
            <a:r>
              <a:rPr lang="en-US" sz="1800" dirty="0">
                <a:solidFill>
                  <a:schemeClr val="bg1"/>
                </a:solidFill>
              </a:rPr>
              <a:t> yang </a:t>
            </a:r>
            <a:r>
              <a:rPr lang="en-US" sz="1800" dirty="0" err="1">
                <a:solidFill>
                  <a:schemeClr val="bg1"/>
                </a:solidFill>
              </a:rPr>
              <a:t>diguanakan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adalah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Ketaatan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kedisiplinan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tanggung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jawab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kerjasama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penilaian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dari</a:t>
            </a:r>
            <a:r>
              <a:rPr lang="en-US" sz="1800" dirty="0">
                <a:solidFill>
                  <a:schemeClr val="bg1"/>
                </a:solidFill>
              </a:rPr>
              <a:t> proses </a:t>
            </a:r>
            <a:r>
              <a:rPr lang="en-US" sz="1800" dirty="0" err="1">
                <a:solidFill>
                  <a:schemeClr val="bg1"/>
                </a:solidFill>
              </a:rPr>
              <a:t>pembelajaran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keaktifan</a:t>
            </a:r>
            <a:r>
              <a:rPr lang="en-US" sz="1800" dirty="0">
                <a:solidFill>
                  <a:schemeClr val="bg1"/>
                </a:solidFill>
              </a:rPr>
              <a:t> Guru di </a:t>
            </a:r>
            <a:r>
              <a:rPr lang="en-US" sz="1800" dirty="0" err="1">
                <a:solidFill>
                  <a:schemeClr val="bg1"/>
                </a:solidFill>
              </a:rPr>
              <a:t>sekolah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kejujuran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  <a:endParaRPr lang="en-US" sz="1800" dirty="0" smtClean="0">
              <a:solidFill>
                <a:schemeClr val="bg1"/>
              </a:solidFill>
            </a:endParaRPr>
          </a:p>
          <a:p>
            <a:pPr marL="139700" indent="0">
              <a:buNone/>
            </a:pPr>
            <a:endParaRPr lang="en-US" sz="1800" dirty="0" smtClean="0">
              <a:solidFill>
                <a:schemeClr val="bg1"/>
              </a:solidFill>
            </a:endParaRPr>
          </a:p>
          <a:p>
            <a:pPr marL="139700" indent="0">
              <a:buNone/>
            </a:pPr>
            <a:r>
              <a:rPr lang="sv-SE" sz="1800" dirty="0">
                <a:solidFill>
                  <a:schemeClr val="bg1"/>
                </a:solidFill>
              </a:rPr>
              <a:t>Dengan penentuan kriteria penilaian lebih dari 85 (&gt;85), kriteria penilaian lebih dari sama dengan 80 (&gt;80) dan kriteria penilaian dibawah 80 (80). 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047" y="1484784"/>
            <a:ext cx="4272474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451282" y="4653136"/>
            <a:ext cx="40811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Berdasarkan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beberapa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kriteria</a:t>
            </a:r>
            <a:r>
              <a:rPr lang="en-US" sz="1600" dirty="0">
                <a:solidFill>
                  <a:schemeClr val="bg1"/>
                </a:solidFill>
              </a:rPr>
              <a:t> yang </a:t>
            </a:r>
            <a:r>
              <a:rPr lang="en-US" sz="1600" dirty="0" err="1">
                <a:solidFill>
                  <a:schemeClr val="bg1"/>
                </a:solidFill>
              </a:rPr>
              <a:t>digunakan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untuk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menentukan</a:t>
            </a:r>
            <a:r>
              <a:rPr lang="en-US" sz="1600" dirty="0">
                <a:solidFill>
                  <a:schemeClr val="bg1"/>
                </a:solidFill>
              </a:rPr>
              <a:t> Guru </a:t>
            </a:r>
            <a:r>
              <a:rPr lang="en-US" sz="1600" dirty="0" err="1">
                <a:solidFill>
                  <a:schemeClr val="bg1"/>
                </a:solidFill>
              </a:rPr>
              <a:t>Berprestasi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ada</a:t>
            </a:r>
            <a:r>
              <a:rPr lang="en-US" sz="1600" dirty="0">
                <a:solidFill>
                  <a:schemeClr val="bg1"/>
                </a:solidFill>
              </a:rPr>
              <a:t> 2 </a:t>
            </a:r>
            <a:r>
              <a:rPr lang="en-US" sz="1600" dirty="0" err="1">
                <a:solidFill>
                  <a:schemeClr val="bg1"/>
                </a:solidFill>
              </a:rPr>
              <a:t>Kriteria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utama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berdasarkan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menggunakan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perhitungan</a:t>
            </a:r>
            <a:r>
              <a:rPr lang="en-US" sz="1600" dirty="0">
                <a:solidFill>
                  <a:schemeClr val="bg1"/>
                </a:solidFill>
              </a:rPr>
              <a:t> model </a:t>
            </a:r>
            <a:r>
              <a:rPr lang="en-US" sz="1600" i="1" dirty="0">
                <a:solidFill>
                  <a:schemeClr val="bg1"/>
                </a:solidFill>
              </a:rPr>
              <a:t>Decision Tree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yaitu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kejujuran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kedisiplinan</a:t>
            </a:r>
            <a:r>
              <a:rPr lang="en-US" sz="1600" dirty="0">
                <a:solidFill>
                  <a:schemeClr val="bg1"/>
                </a:solidFill>
              </a:rPr>
              <a:t>. 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57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3648" y="957791"/>
            <a:ext cx="6277268" cy="1772968"/>
          </a:xfrm>
        </p:spPr>
        <p:txBody>
          <a:bodyPr/>
          <a:lstStyle/>
          <a:p>
            <a:pPr marL="139700" indent="0">
              <a:buNone/>
            </a:pPr>
            <a:r>
              <a:rPr lang="en-US" dirty="0">
                <a:solidFill>
                  <a:schemeClr val="bg1"/>
                </a:solidFill>
              </a:rPr>
              <a:t>Use case Diagram </a:t>
            </a:r>
            <a:r>
              <a:rPr lang="en-US" dirty="0" err="1">
                <a:solidFill>
                  <a:schemeClr val="bg1"/>
                </a:solidFill>
              </a:rPr>
              <a:t>adalah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fungsi-fungsi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atau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fitur-fitur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apa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saja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disediakan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oleh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informasi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dikembangkan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pengguna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708920"/>
            <a:ext cx="4950177" cy="2493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0211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712" y="980728"/>
            <a:ext cx="5345700" cy="4122000"/>
          </a:xfrm>
        </p:spPr>
        <p:txBody>
          <a:bodyPr/>
          <a:lstStyle/>
          <a:p>
            <a:pPr marL="139700" indent="0">
              <a:buNone/>
            </a:pPr>
            <a:r>
              <a:rPr lang="en-US" i="1" dirty="0">
                <a:solidFill>
                  <a:schemeClr val="bg1"/>
                </a:solidFill>
              </a:rPr>
              <a:t>Class Diagram </a:t>
            </a:r>
            <a:r>
              <a:rPr lang="en-US" dirty="0" err="1">
                <a:solidFill>
                  <a:schemeClr val="bg1"/>
                </a:solidFill>
              </a:rPr>
              <a:t>adalah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interaksi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antara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kelas-kelas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988840"/>
            <a:ext cx="6436851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5726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620688"/>
            <a:ext cx="5144796" cy="548832"/>
          </a:xfrm>
        </p:spPr>
        <p:txBody>
          <a:bodyPr/>
          <a:lstStyle/>
          <a:p>
            <a:r>
              <a:rPr lang="en-ID" dirty="0" smtClean="0">
                <a:solidFill>
                  <a:schemeClr val="bg1"/>
                </a:solidFill>
              </a:rPr>
              <a:t>KESIMPULAN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8280920" cy="4122000"/>
          </a:xfrm>
        </p:spPr>
        <p:txBody>
          <a:bodyPr/>
          <a:lstStyle/>
          <a:p>
            <a:pPr marL="596900" indent="-4572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596900" indent="-457200">
              <a:buFont typeface="+mj-lt"/>
              <a:buAutoNum type="arabicPeriod"/>
            </a:pPr>
            <a:r>
              <a:rPr lang="en-US" dirty="0" err="1" smtClean="0">
                <a:solidFill>
                  <a:schemeClr val="bg1"/>
                </a:solidFill>
              </a:rPr>
              <a:t>Instansi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atau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lembaga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pendidikan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membutuhkan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membantu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penentuan</a:t>
            </a:r>
            <a:r>
              <a:rPr lang="en-US" dirty="0">
                <a:solidFill>
                  <a:schemeClr val="bg1"/>
                </a:solidFill>
              </a:rPr>
              <a:t> Guru </a:t>
            </a:r>
            <a:r>
              <a:rPr lang="en-US" dirty="0" err="1">
                <a:solidFill>
                  <a:schemeClr val="bg1"/>
                </a:solidFill>
              </a:rPr>
              <a:t>Berprestasi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lebih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meningkatkan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sumber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pengajar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dunia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pendidikan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596900" indent="-457200">
              <a:buFont typeface="+mj-lt"/>
              <a:buAutoNum type="arabicPeriod"/>
            </a:pPr>
            <a:r>
              <a:rPr lang="en-US" dirty="0" err="1" smtClean="0">
                <a:solidFill>
                  <a:schemeClr val="bg1"/>
                </a:solidFill>
              </a:rPr>
              <a:t>Analisa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perancangan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penentuan</a:t>
            </a:r>
            <a:r>
              <a:rPr lang="en-US" dirty="0">
                <a:solidFill>
                  <a:schemeClr val="bg1"/>
                </a:solidFill>
              </a:rPr>
              <a:t> Guru </a:t>
            </a:r>
            <a:r>
              <a:rPr lang="en-US" dirty="0" err="1">
                <a:solidFill>
                  <a:schemeClr val="bg1"/>
                </a:solidFill>
              </a:rPr>
              <a:t>Berprestasi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digunakan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membantu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pemilihan</a:t>
            </a:r>
            <a:r>
              <a:rPr lang="en-US" dirty="0">
                <a:solidFill>
                  <a:schemeClr val="bg1"/>
                </a:solidFill>
              </a:rPr>
              <a:t> Guru </a:t>
            </a:r>
            <a:r>
              <a:rPr lang="en-US" dirty="0" err="1">
                <a:solidFill>
                  <a:schemeClr val="bg1"/>
                </a:solidFill>
              </a:rPr>
              <a:t>Berprestasi</a:t>
            </a:r>
            <a:r>
              <a:rPr lang="en-US" dirty="0">
                <a:solidFill>
                  <a:schemeClr val="bg1"/>
                </a:solidFill>
              </a:rPr>
              <a:t>, yang </a:t>
            </a:r>
            <a:r>
              <a:rPr lang="en-US" dirty="0" err="1">
                <a:solidFill>
                  <a:schemeClr val="bg1"/>
                </a:solidFill>
              </a:rPr>
              <a:t>menggunakan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beberapa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kriteria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yaitu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ketaatan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kedisiplinan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tanggung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jawab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kerjasama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penilaian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dari</a:t>
            </a:r>
            <a:r>
              <a:rPr lang="en-US" dirty="0">
                <a:solidFill>
                  <a:schemeClr val="bg1"/>
                </a:solidFill>
              </a:rPr>
              <a:t> proses </a:t>
            </a:r>
            <a:r>
              <a:rPr lang="en-US" dirty="0" err="1">
                <a:solidFill>
                  <a:schemeClr val="bg1"/>
                </a:solidFill>
              </a:rPr>
              <a:t>pembelajaran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keaktifan</a:t>
            </a:r>
            <a:r>
              <a:rPr lang="en-US" dirty="0">
                <a:solidFill>
                  <a:schemeClr val="bg1"/>
                </a:solidFill>
              </a:rPr>
              <a:t> guru di </a:t>
            </a:r>
            <a:r>
              <a:rPr lang="en-US" dirty="0" err="1">
                <a:solidFill>
                  <a:schemeClr val="bg1"/>
                </a:solidFill>
              </a:rPr>
              <a:t>sekolah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kejujuran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596900" indent="-457200">
              <a:buFont typeface="+mj-lt"/>
              <a:buAutoNum type="arabicPeriod"/>
            </a:pPr>
            <a:r>
              <a:rPr lang="en-US" dirty="0" err="1" smtClean="0">
                <a:solidFill>
                  <a:schemeClr val="bg1"/>
                </a:solidFill>
              </a:rPr>
              <a:t>Penentuan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Guru </a:t>
            </a:r>
            <a:r>
              <a:rPr lang="en-US" dirty="0" err="1">
                <a:solidFill>
                  <a:schemeClr val="bg1"/>
                </a:solidFill>
              </a:rPr>
              <a:t>Berprestasi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menggunakan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metode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Decision Tree </a:t>
            </a:r>
            <a:r>
              <a:rPr lang="en-US" dirty="0" err="1">
                <a:solidFill>
                  <a:schemeClr val="bg1"/>
                </a:solidFill>
              </a:rPr>
              <a:t>digunakan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mempermudah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menyelesaikan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permasalahan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menentukan</a:t>
            </a:r>
            <a:r>
              <a:rPr lang="en-US" dirty="0">
                <a:solidFill>
                  <a:schemeClr val="bg1"/>
                </a:solidFill>
              </a:rPr>
              <a:t> guru yang </a:t>
            </a:r>
            <a:r>
              <a:rPr lang="en-US" dirty="0" err="1">
                <a:solidFill>
                  <a:schemeClr val="bg1"/>
                </a:solidFill>
              </a:rPr>
              <a:t>layak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menjadi</a:t>
            </a:r>
            <a:r>
              <a:rPr lang="en-US" dirty="0">
                <a:solidFill>
                  <a:schemeClr val="bg1"/>
                </a:solidFill>
              </a:rPr>
              <a:t> Guru </a:t>
            </a:r>
            <a:r>
              <a:rPr lang="en-US" dirty="0" err="1">
                <a:solidFill>
                  <a:schemeClr val="bg1"/>
                </a:solidFill>
              </a:rPr>
              <a:t>Berprestasi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596900" indent="-4572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921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836712"/>
            <a:ext cx="1341900" cy="476824"/>
          </a:xfrm>
        </p:spPr>
        <p:txBody>
          <a:bodyPr/>
          <a:lstStyle/>
          <a:p>
            <a:r>
              <a:rPr lang="en-ID" sz="2800" dirty="0" err="1" smtClean="0">
                <a:solidFill>
                  <a:schemeClr val="bg1"/>
                </a:solidFill>
              </a:rPr>
              <a:t>Sumber</a:t>
            </a:r>
            <a:r>
              <a:rPr lang="en-ID" sz="2800" dirty="0" smtClean="0">
                <a:solidFill>
                  <a:schemeClr val="bg1"/>
                </a:solidFill>
              </a:rPr>
              <a:t>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664" y="1772816"/>
            <a:ext cx="5345700" cy="4122000"/>
          </a:xfrm>
        </p:spPr>
        <p:txBody>
          <a:bodyPr/>
          <a:lstStyle/>
          <a:p>
            <a:pPr marL="139700" indent="0">
              <a:buNone/>
            </a:pPr>
            <a:r>
              <a:rPr lang="en-ID" dirty="0" err="1" smtClean="0">
                <a:solidFill>
                  <a:schemeClr val="bg1"/>
                </a:solidFill>
              </a:rPr>
              <a:t>Saya</a:t>
            </a:r>
            <a:r>
              <a:rPr lang="en-ID" dirty="0" smtClean="0">
                <a:solidFill>
                  <a:schemeClr val="bg1"/>
                </a:solidFill>
              </a:rPr>
              <a:t> </a:t>
            </a:r>
            <a:r>
              <a:rPr lang="en-ID" dirty="0" err="1" smtClean="0">
                <a:solidFill>
                  <a:schemeClr val="bg1"/>
                </a:solidFill>
              </a:rPr>
              <a:t>mengambil</a:t>
            </a:r>
            <a:r>
              <a:rPr lang="en-ID" dirty="0" smtClean="0">
                <a:solidFill>
                  <a:schemeClr val="bg1"/>
                </a:solidFill>
              </a:rPr>
              <a:t> </a:t>
            </a:r>
            <a:r>
              <a:rPr lang="en-ID" dirty="0" err="1" smtClean="0">
                <a:solidFill>
                  <a:schemeClr val="bg1"/>
                </a:solidFill>
              </a:rPr>
              <a:t>sumber</a:t>
            </a:r>
            <a:r>
              <a:rPr lang="en-ID" dirty="0" smtClean="0">
                <a:solidFill>
                  <a:schemeClr val="bg1"/>
                </a:solidFill>
              </a:rPr>
              <a:t> </a:t>
            </a:r>
            <a:r>
              <a:rPr lang="en-ID" dirty="0" err="1" smtClean="0">
                <a:solidFill>
                  <a:schemeClr val="bg1"/>
                </a:solidFill>
              </a:rPr>
              <a:t>dari</a:t>
            </a:r>
            <a:r>
              <a:rPr lang="en-ID" dirty="0" smtClean="0">
                <a:solidFill>
                  <a:schemeClr val="bg1"/>
                </a:solidFill>
              </a:rPr>
              <a:t> </a:t>
            </a:r>
            <a:r>
              <a:rPr lang="en-ID" dirty="0" err="1" smtClean="0">
                <a:solidFill>
                  <a:schemeClr val="bg1"/>
                </a:solidFill>
              </a:rPr>
              <a:t>jurnal</a:t>
            </a:r>
            <a:r>
              <a:rPr lang="en-ID" dirty="0" smtClean="0">
                <a:solidFill>
                  <a:schemeClr val="bg1"/>
                </a:solidFill>
              </a:rPr>
              <a:t> ANALISA DAN PERANCANGAN PENENTUAN GURU BERPRESTASI MENGGUNAKAN METODE DECISION TREE (</a:t>
            </a:r>
            <a:r>
              <a:rPr lang="en-ID" dirty="0" err="1" smtClean="0">
                <a:solidFill>
                  <a:schemeClr val="bg1"/>
                </a:solidFill>
              </a:rPr>
              <a:t>Studi</a:t>
            </a:r>
            <a:r>
              <a:rPr lang="en-ID" dirty="0" smtClean="0">
                <a:solidFill>
                  <a:schemeClr val="bg1"/>
                </a:solidFill>
              </a:rPr>
              <a:t> </a:t>
            </a:r>
            <a:r>
              <a:rPr lang="en-ID" dirty="0" err="1" smtClean="0">
                <a:solidFill>
                  <a:schemeClr val="bg1"/>
                </a:solidFill>
              </a:rPr>
              <a:t>kasus</a:t>
            </a:r>
            <a:r>
              <a:rPr lang="en-ID" dirty="0" smtClean="0">
                <a:solidFill>
                  <a:schemeClr val="bg1"/>
                </a:solidFill>
              </a:rPr>
              <a:t> SMA XYZ) </a:t>
            </a:r>
            <a:r>
              <a:rPr lang="en-ID" dirty="0" err="1" smtClean="0">
                <a:solidFill>
                  <a:schemeClr val="bg1"/>
                </a:solidFill>
              </a:rPr>
              <a:t>oleh</a:t>
            </a:r>
            <a:r>
              <a:rPr lang="en-ID" dirty="0" smtClean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Diana </a:t>
            </a:r>
            <a:r>
              <a:rPr lang="en-US" b="1" dirty="0" err="1">
                <a:solidFill>
                  <a:schemeClr val="bg1"/>
                </a:solidFill>
              </a:rPr>
              <a:t>Laily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Fithri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1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75</TotalTime>
  <Words>604</Words>
  <Application>Microsoft Office PowerPoint</Application>
  <PresentationFormat>On-screen Show (4:3)</PresentationFormat>
  <Paragraphs>36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Theme1</vt:lpstr>
      <vt:lpstr>METODE DECISION TREE</vt:lpstr>
      <vt:lpstr>Decision Tree</vt:lpstr>
      <vt:lpstr>Decision tree</vt:lpstr>
      <vt:lpstr>  ANALISA DAN PERANCANGAN PENENTUAN GURU BERPRESTASI  MENGGUNAKAN METODE DECISION TREE </vt:lpstr>
      <vt:lpstr>PowerPoint Presentation</vt:lpstr>
      <vt:lpstr>PowerPoint Presentation</vt:lpstr>
      <vt:lpstr>Decision Tree</vt:lpstr>
      <vt:lpstr>PowerPoint Presentation</vt:lpstr>
      <vt:lpstr>PowerPoint Presentation</vt:lpstr>
      <vt:lpstr>Hasil dan pembahasan</vt:lpstr>
      <vt:lpstr>PowerPoint Presentation</vt:lpstr>
      <vt:lpstr>PowerPoint Presentation</vt:lpstr>
      <vt:lpstr>KESIMPULAN</vt:lpstr>
      <vt:lpstr>Sumber 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DECISION TREE</dc:title>
  <dc:creator>ismail - [2010]</dc:creator>
  <cp:lastModifiedBy>ismail - [2010]</cp:lastModifiedBy>
  <cp:revision>6</cp:revision>
  <dcterms:created xsi:type="dcterms:W3CDTF">2021-05-31T01:55:27Z</dcterms:created>
  <dcterms:modified xsi:type="dcterms:W3CDTF">2021-05-31T07:57:45Z</dcterms:modified>
</cp:coreProperties>
</file>